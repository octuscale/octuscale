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84" r:id="rId2"/>
  </p:sldMasterIdLst>
  <p:notesMasterIdLst>
    <p:notesMasterId r:id="rId8"/>
  </p:notesMasterIdLst>
  <p:sldIdLst>
    <p:sldId id="268" r:id="rId3"/>
    <p:sldId id="269" r:id="rId4"/>
    <p:sldId id="263" r:id="rId5"/>
    <p:sldId id="266" r:id="rId6"/>
    <p:sldId id="265" r:id="rId7"/>
  </p:sldIdLst>
  <p:sldSz cx="10058400" cy="7772400"/>
  <p:notesSz cx="6858000" cy="9144000"/>
  <p:embeddedFontLst>
    <p:embeddedFont>
      <p:font typeface="Leelawadee UI" pitchFamily="34" charset="-34"/>
      <p:regular r:id="rId9"/>
      <p:bold r:id="rId10"/>
    </p:embeddedFont>
    <p:embeddedFont>
      <p:font typeface="Century Gothic" pitchFamily="34" charset="0"/>
      <p:regular r:id="rId11"/>
      <p:bold r:id="rId12"/>
      <p:italic r:id="rId13"/>
      <p:boldItalic r:id="rId14"/>
    </p:embeddedFont>
    <p:embeddedFont>
      <p:font typeface="Roboto" charset="0"/>
      <p:regular r:id="rId15"/>
      <p:bold r:id="rId16"/>
      <p:italic r:id="rId17"/>
      <p:boldItalic r:id="rId18"/>
    </p:embeddedFont>
    <p:embeddedFont>
      <p:font typeface="Roboto Black" charset="0"/>
      <p:bold r:id="rId19"/>
      <p:boldItalic r:id="rId20"/>
    </p:embeddedFont>
    <p:embeddedFont>
      <p:font typeface="Palatino Linotype" pitchFamily="18" charset="0"/>
      <p:regular r:id="rId21"/>
      <p:bold r:id="rId22"/>
      <p:italic r:id="rId23"/>
      <p:boldItalic r:id="rId24"/>
    </p:embeddedFont>
    <p:embeddedFont>
      <p:font typeface="Microsoft JhengHei UI" pitchFamily="34" charset="-120"/>
      <p:regular r:id="rId25"/>
      <p:bold r:id="rId26"/>
    </p:embeddedFont>
    <p:embeddedFont>
      <p:font typeface="Montserrat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EB6A9133-ADEE-485F-9703-331F978A42CD}">
          <p14:sldIdLst>
            <p14:sldId id="268"/>
            <p14:sldId id="269"/>
            <p14:sldId id="263"/>
            <p14:sldId id="266"/>
            <p14:sldId id="265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905"/>
    <a:srgbClr val="FDB9FA"/>
    <a:srgbClr val="FB8DF6"/>
    <a:srgbClr val="FED2FC"/>
    <a:srgbClr val="F89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74555" autoAdjust="0"/>
  </p:normalViewPr>
  <p:slideViewPr>
    <p:cSldViewPr snapToGrid="0">
      <p:cViewPr varScale="1">
        <p:scale>
          <a:sx n="65" d="100"/>
          <a:sy n="65" d="100"/>
        </p:scale>
        <p:origin x="-1350" y="-108"/>
      </p:cViewPr>
      <p:guideLst>
        <p:guide orient="horz" pos="244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font" Target="fonts/font18.fntdata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font" Target="fonts/font2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font" Target="fonts/font20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font" Target="fonts/font19.fntdata"/><Relationship Id="rId30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0535" y="685800"/>
            <a:ext cx="4437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14022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cb01ab3d5f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1263" y="685800"/>
            <a:ext cx="44370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cb01ab3d5f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cb01ab3d5f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1263" y="685800"/>
            <a:ext cx="44370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cb01ab3d5f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cb01ab3d5f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1263" y="685800"/>
            <a:ext cx="443706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cb01ab3d5f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3100" tIns="113100" rIns="113100" bIns="113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457200" lvl="0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lvl="0" indent="-3683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690881"/>
            <a:ext cx="8549640" cy="483616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5613400"/>
            <a:ext cx="7040880" cy="138176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1554481"/>
            <a:ext cx="8549640" cy="2839085"/>
          </a:xfrm>
        </p:spPr>
        <p:txBody>
          <a:bodyPr anchor="b"/>
          <a:lstStyle>
            <a:lvl1pPr algn="ctr" defTabSz="101882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3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4611265"/>
            <a:ext cx="8549640" cy="1282805"/>
          </a:xfrm>
        </p:spPr>
        <p:txBody>
          <a:bodyPr anchor="t"/>
          <a:lstStyle>
            <a:lvl1pPr marL="0" indent="0" algn="ct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Oval 6"/>
          <p:cNvSpPr/>
          <p:nvPr/>
        </p:nvSpPr>
        <p:spPr>
          <a:xfrm>
            <a:off x="4945380" y="4447540"/>
            <a:ext cx="93249" cy="960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165408" y="4447540"/>
            <a:ext cx="93249" cy="960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726401" y="4447540"/>
            <a:ext cx="93249" cy="960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0" y="1813560"/>
            <a:ext cx="4442460" cy="5129425"/>
          </a:xfrm>
        </p:spPr>
        <p:txBody>
          <a:bodyPr/>
          <a:lstStyle>
            <a:lvl1pPr>
              <a:defRPr sz="27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2336" y="1813560"/>
            <a:ext cx="4445813" cy="5129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13560"/>
            <a:ext cx="4444207" cy="690880"/>
          </a:xfrm>
        </p:spPr>
        <p:txBody>
          <a:bodyPr anchor="b">
            <a:noAutofit/>
          </a:bodyPr>
          <a:lstStyle>
            <a:lvl1pPr marL="0" indent="0" algn="ctr">
              <a:buNone/>
              <a:defRPr sz="2700" b="0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3020" y="1813560"/>
            <a:ext cx="4445953" cy="690880"/>
          </a:xfrm>
        </p:spPr>
        <p:txBody>
          <a:bodyPr anchor="b">
            <a:noAutofit/>
          </a:bodyPr>
          <a:lstStyle>
            <a:lvl1pPr marL="0" indent="0" algn="ctr">
              <a:buNone/>
              <a:defRPr sz="2700" b="0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502920" y="2507894"/>
            <a:ext cx="4445813" cy="4435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5139842" y="2507895"/>
            <a:ext cx="4445813" cy="4434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7796" y="302260"/>
            <a:ext cx="3309144" cy="2374900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051" y="309457"/>
            <a:ext cx="5495449" cy="663352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7796" y="2763520"/>
            <a:ext cx="3309144" cy="4179465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8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34" y="259080"/>
            <a:ext cx="6283006" cy="1014730"/>
          </a:xfrm>
        </p:spPr>
        <p:txBody>
          <a:bodyPr anchor="b"/>
          <a:lstStyle>
            <a:lvl1pPr algn="ctr">
              <a:lnSpc>
                <a:spcPct val="100000"/>
              </a:lnSpc>
              <a:defRPr sz="3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58939" y="1295400"/>
            <a:ext cx="6660196" cy="5146517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600"/>
            </a:lvl1pPr>
            <a:lvl2pPr marL="509412" indent="0">
              <a:buNone/>
              <a:defRPr sz="3100"/>
            </a:lvl2pPr>
            <a:lvl3pPr marL="1018824" indent="0">
              <a:buNone/>
              <a:defRPr sz="2700"/>
            </a:lvl3pPr>
            <a:lvl4pPr marL="1528237" indent="0">
              <a:buNone/>
              <a:defRPr sz="2200"/>
            </a:lvl4pPr>
            <a:lvl5pPr marL="2037649" indent="0">
              <a:buNone/>
              <a:defRPr sz="2200"/>
            </a:lvl5pPr>
            <a:lvl6pPr marL="2547061" indent="0">
              <a:buNone/>
              <a:defRPr sz="2200"/>
            </a:lvl6pPr>
            <a:lvl7pPr marL="3056473" indent="0">
              <a:buNone/>
              <a:defRPr sz="2200"/>
            </a:lvl7pPr>
            <a:lvl8pPr marL="3565886" indent="0">
              <a:buNone/>
              <a:defRPr sz="2200"/>
            </a:lvl8pPr>
            <a:lvl9pPr marL="4075298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47534" y="6584950"/>
            <a:ext cx="6283006" cy="60452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509412" indent="0">
              <a:buNone/>
              <a:defRPr sz="1300"/>
            </a:lvl2pPr>
            <a:lvl3pPr marL="1018824" indent="0">
              <a:buNone/>
              <a:defRPr sz="1100"/>
            </a:lvl3pPr>
            <a:lvl4pPr marL="1528237" indent="0">
              <a:buNone/>
              <a:defRPr sz="1000"/>
            </a:lvl4pPr>
            <a:lvl5pPr marL="2037649" indent="0">
              <a:buNone/>
              <a:defRPr sz="1000"/>
            </a:lvl5pPr>
            <a:lvl6pPr marL="2547061" indent="0">
              <a:buNone/>
              <a:defRPr sz="1000"/>
            </a:lvl6pPr>
            <a:lvl7pPr marL="3056473" indent="0">
              <a:buNone/>
              <a:defRPr sz="1000"/>
            </a:lvl7pPr>
            <a:lvl8pPr marL="3565886" indent="0">
              <a:buNone/>
              <a:defRPr sz="1000"/>
            </a:lvl8pPr>
            <a:lvl9pPr marL="40752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340" y="311257"/>
            <a:ext cx="2263140" cy="66317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11257"/>
            <a:ext cx="6621780" cy="66317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rmAutofit/>
          </a:bodyPr>
          <a:lstStyle>
            <a:lvl1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●"/>
              <a:defRPr sz="2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■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■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●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○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Arial"/>
              <a:buChar char="■"/>
              <a:defRPr sz="1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0"/>
            <a:ext cx="9052560" cy="1813560"/>
          </a:xfrm>
          <a:prstGeom prst="rect">
            <a:avLst/>
          </a:prstGeom>
        </p:spPr>
        <p:txBody>
          <a:bodyPr vert="horz" lIns="101882" tIns="50941" rIns="101882" bIns="50941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813560"/>
            <a:ext cx="9052560" cy="5129425"/>
          </a:xfrm>
          <a:prstGeom prst="rect">
            <a:avLst/>
          </a:prstGeom>
        </p:spPr>
        <p:txBody>
          <a:bodyPr vert="horz" lIns="101882" tIns="50941" rIns="101882" bIns="5094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99682" y="7203864"/>
            <a:ext cx="2294573" cy="413808"/>
          </a:xfrm>
          <a:prstGeom prst="rect">
            <a:avLst/>
          </a:prstGeom>
        </p:spPr>
        <p:txBody>
          <a:bodyPr vert="horz" lIns="101882" tIns="50941" rIns="50941" bIns="50941" rtlCol="0" anchor="ctr"/>
          <a:lstStyle>
            <a:lvl1pPr algn="r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B0C4986D-6BE9-4264-908F-02DB36FD8D6C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082" y="7203864"/>
            <a:ext cx="3132773" cy="413808"/>
          </a:xfrm>
          <a:prstGeom prst="rect">
            <a:avLst/>
          </a:prstGeom>
        </p:spPr>
        <p:txBody>
          <a:bodyPr vert="horz" lIns="50941" tIns="50941" rIns="101882" bIns="50941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r>
              <a:rPr lang="en-US"/>
              <a:t>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97606" y="7203864"/>
            <a:ext cx="618173" cy="413808"/>
          </a:xfrm>
          <a:prstGeom prst="rect">
            <a:avLst/>
          </a:prstGeom>
        </p:spPr>
        <p:txBody>
          <a:bodyPr vert="horz" lIns="30565" tIns="50941" rIns="50941" bIns="50941" rtlCol="0" anchor="ctr"/>
          <a:lstStyle>
            <a:lvl1pPr algn="l">
              <a:defRPr sz="13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Oval 6"/>
          <p:cNvSpPr/>
          <p:nvPr/>
        </p:nvSpPr>
        <p:spPr>
          <a:xfrm>
            <a:off x="9303536" y="7365969"/>
            <a:ext cx="93249" cy="960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marL="0" algn="ctr" defTabSz="1018824" rtl="0" eaLnBrk="1" latinLnBrk="0" hangingPunct="1"/>
            <a:endParaRPr lang="en-US" sz="20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626031" y="7365969"/>
            <a:ext cx="93249" cy="9607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882" tIns="50941" rIns="101882" bIns="50941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1018824" rtl="0" eaLnBrk="1" latinLnBrk="0" hangingPunct="1">
        <a:lnSpc>
          <a:spcPts val="6462"/>
        </a:lnSpc>
        <a:spcBef>
          <a:spcPct val="0"/>
        </a:spcBef>
        <a:buNone/>
        <a:defRPr sz="60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82059" indent="-382059" algn="l" defTabSz="1018824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827795" indent="-318383" algn="l" defTabSz="1018824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273531" indent="-254706" algn="l" defTabSz="101882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782943" indent="-254706" algn="l" defTabSz="1018824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292355" indent="-254706" algn="l" defTabSz="101882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963" y="387459"/>
            <a:ext cx="9214517" cy="7082724"/>
          </a:xfrm>
        </p:spPr>
        <p:txBody>
          <a:bodyPr/>
          <a:lstStyle/>
          <a:p>
            <a:pPr lvl="0"/>
            <a:r>
              <a:rPr lang="en-US" sz="4800" b="1" u="sng" dirty="0">
                <a:solidFill>
                  <a:srgbClr val="002060"/>
                </a:solidFill>
              </a:rPr>
              <a:t>Demographic</a:t>
            </a:r>
          </a:p>
          <a:p>
            <a:pPr marL="0" lvl="0" indent="0">
              <a:buNone/>
            </a:pPr>
            <a:endParaRPr lang="en-US" sz="4800" b="1" u="sng" dirty="0">
              <a:solidFill>
                <a:srgbClr val="002060"/>
              </a:solidFill>
            </a:endParaRPr>
          </a:p>
          <a:p>
            <a:pPr marL="452628" lvl="0" indent="-342900"/>
            <a:r>
              <a:rPr lang="en-US" sz="4000" b="1" dirty="0">
                <a:solidFill>
                  <a:schemeClr val="tx1"/>
                </a:solidFill>
              </a:rPr>
              <a:t>Gender :</a:t>
            </a:r>
            <a:r>
              <a:rPr lang="ar-EG" sz="4000" b="1" dirty="0">
                <a:solidFill>
                  <a:schemeClr val="tx1"/>
                </a:solidFill>
              </a:rPr>
              <a:t> </a:t>
            </a:r>
            <a:r>
              <a:rPr lang="en-US" sz="4000" b="1" dirty="0">
                <a:solidFill>
                  <a:schemeClr val="tx1"/>
                </a:solidFill>
              </a:rPr>
              <a:t>men – women </a:t>
            </a:r>
          </a:p>
          <a:p>
            <a:pPr marL="452628" lvl="0" indent="-342900"/>
            <a:r>
              <a:rPr lang="en-US" sz="4000" b="1" dirty="0">
                <a:solidFill>
                  <a:schemeClr val="tx1"/>
                </a:solidFill>
              </a:rPr>
              <a:t>Age : </a:t>
            </a:r>
            <a:r>
              <a:rPr lang="en-US" sz="4000" b="1" dirty="0" smtClean="0">
                <a:solidFill>
                  <a:schemeClr val="tx1"/>
                </a:solidFill>
              </a:rPr>
              <a:t>(</a:t>
            </a:r>
            <a:r>
              <a:rPr lang="ar-EG" sz="4000" b="1" dirty="0" smtClean="0">
                <a:solidFill>
                  <a:schemeClr val="tx1"/>
                </a:solidFill>
              </a:rPr>
              <a:t>21</a:t>
            </a:r>
            <a:r>
              <a:rPr lang="en-US" sz="4000" b="1" dirty="0" smtClean="0">
                <a:solidFill>
                  <a:schemeClr val="tx1"/>
                </a:solidFill>
              </a:rPr>
              <a:t>-</a:t>
            </a:r>
            <a:r>
              <a:rPr lang="ar-EG" sz="4000" b="1" dirty="0" smtClean="0">
                <a:solidFill>
                  <a:schemeClr val="tx1"/>
                </a:solidFill>
              </a:rPr>
              <a:t>30</a:t>
            </a:r>
            <a:r>
              <a:rPr lang="en-US" sz="4000" b="1" dirty="0" smtClean="0">
                <a:solidFill>
                  <a:schemeClr val="tx1"/>
                </a:solidFill>
              </a:rPr>
              <a:t>)</a:t>
            </a:r>
            <a:endParaRPr lang="en-US" sz="4000" b="1" dirty="0">
              <a:solidFill>
                <a:schemeClr val="tx1"/>
              </a:solidFill>
            </a:endParaRPr>
          </a:p>
          <a:p>
            <a:pPr marL="452628" lvl="0" indent="-342900"/>
            <a:r>
              <a:rPr lang="en-US" sz="4000" b="1" dirty="0">
                <a:solidFill>
                  <a:schemeClr val="tx1"/>
                </a:solidFill>
              </a:rPr>
              <a:t>Income : ( </a:t>
            </a:r>
            <a:r>
              <a:rPr lang="en-US" sz="4000" b="1" dirty="0" smtClean="0">
                <a:solidFill>
                  <a:schemeClr val="tx1"/>
                </a:solidFill>
              </a:rPr>
              <a:t>3000-</a:t>
            </a:r>
            <a:r>
              <a:rPr lang="ar-EG" sz="4000" b="1" dirty="0" smtClean="0">
                <a:solidFill>
                  <a:schemeClr val="tx1"/>
                </a:solidFill>
              </a:rPr>
              <a:t>10000</a:t>
            </a:r>
            <a:r>
              <a:rPr lang="en-US" sz="4000" b="1" dirty="0" smtClean="0">
                <a:solidFill>
                  <a:schemeClr val="tx1"/>
                </a:solidFill>
              </a:rPr>
              <a:t>)</a:t>
            </a:r>
            <a:endParaRPr lang="ar-EG" sz="4000" b="1" dirty="0">
              <a:solidFill>
                <a:schemeClr val="tx1"/>
              </a:solidFill>
            </a:endParaRPr>
          </a:p>
          <a:p>
            <a:pPr marL="452628" lvl="0" indent="-342900"/>
            <a:r>
              <a:rPr lang="en-US" sz="4000" b="1" dirty="0">
                <a:solidFill>
                  <a:schemeClr val="tx1"/>
                </a:solidFill>
              </a:rPr>
              <a:t>Education: </a:t>
            </a:r>
            <a:r>
              <a:rPr lang="en-US" sz="4000" b="1" dirty="0" smtClean="0">
                <a:solidFill>
                  <a:schemeClr val="tx1"/>
                </a:solidFill>
              </a:rPr>
              <a:t>University and Fresh Grads</a:t>
            </a:r>
            <a:endParaRPr lang="en-US" sz="4000" b="1" dirty="0">
              <a:solidFill>
                <a:schemeClr val="tx1"/>
              </a:solidFill>
            </a:endParaRPr>
          </a:p>
          <a:p>
            <a:pPr marL="452628" lvl="0" indent="-342900"/>
            <a:endParaRPr lang="en-US" sz="2800" b="1" dirty="0">
              <a:solidFill>
                <a:schemeClr val="tx1"/>
              </a:solidFill>
            </a:endParaRPr>
          </a:p>
          <a:p>
            <a:pPr marL="109728" lv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96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944" y="294466"/>
            <a:ext cx="8269121" cy="1131635"/>
          </a:xfrm>
        </p:spPr>
        <p:txBody>
          <a:bodyPr/>
          <a:lstStyle/>
          <a:p>
            <a:pPr algn="l"/>
            <a:r>
              <a:rPr lang="en-US" dirty="0"/>
              <a:t>Smart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Reach 1000 Person	 in first week.</a:t>
            </a:r>
            <a:endParaRPr lang="en-US" sz="4000" b="1" dirty="0">
              <a:solidFill>
                <a:schemeClr val="tx1"/>
              </a:solidFill>
            </a:endParaRPr>
          </a:p>
          <a:p>
            <a:r>
              <a:rPr lang="en-US" sz="4000" b="1" dirty="0" err="1" smtClean="0">
                <a:solidFill>
                  <a:schemeClr val="tx1"/>
                </a:solidFill>
              </a:rPr>
              <a:t>Rease</a:t>
            </a:r>
            <a:r>
              <a:rPr lang="en-US" sz="4000" b="1" dirty="0" smtClean="0">
                <a:solidFill>
                  <a:schemeClr val="tx1"/>
                </a:solidFill>
              </a:rPr>
              <a:t> Engagement Rate by 10 %.</a:t>
            </a:r>
          </a:p>
          <a:p>
            <a:r>
              <a:rPr lang="en-US" sz="4000" b="1" dirty="0" err="1" smtClean="0">
                <a:solidFill>
                  <a:schemeClr val="tx1"/>
                </a:solidFill>
              </a:rPr>
              <a:t>Rease</a:t>
            </a:r>
            <a:r>
              <a:rPr lang="en-US" sz="4000" b="1" dirty="0" smtClean="0">
                <a:solidFill>
                  <a:schemeClr val="tx1"/>
                </a:solidFill>
              </a:rPr>
              <a:t> </a:t>
            </a:r>
            <a:r>
              <a:rPr lang="en-US" sz="4000" b="1" dirty="0" err="1" smtClean="0">
                <a:solidFill>
                  <a:schemeClr val="tx1"/>
                </a:solidFill>
              </a:rPr>
              <a:t>Followe</a:t>
            </a:r>
            <a:r>
              <a:rPr lang="en-US" sz="4000" b="1" dirty="0" smtClean="0">
                <a:solidFill>
                  <a:schemeClr val="tx1"/>
                </a:solidFill>
              </a:rPr>
              <a:t> BY 100 .</a:t>
            </a:r>
          </a:p>
          <a:p>
            <a:r>
              <a:rPr lang="en-US" sz="4000" b="1" dirty="0" smtClean="0">
                <a:solidFill>
                  <a:schemeClr val="tx1"/>
                </a:solidFill>
              </a:rPr>
              <a:t>Transform Followers to clients.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18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3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/>
          <p:nvPr/>
        </p:nvSpPr>
        <p:spPr>
          <a:xfrm>
            <a:off x="6418425" y="0"/>
            <a:ext cx="3639900" cy="2717100"/>
          </a:xfrm>
          <a:prstGeom prst="roundRect">
            <a:avLst>
              <a:gd name="adj" fmla="val 0"/>
            </a:avLst>
          </a:prstGeom>
          <a:solidFill>
            <a:srgbClr val="DFEE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6587409" y="2717125"/>
            <a:ext cx="3470916" cy="2863200"/>
          </a:xfrm>
          <a:prstGeom prst="roundRect">
            <a:avLst>
              <a:gd name="adj" fmla="val 0"/>
            </a:avLst>
          </a:prstGeom>
          <a:solidFill>
            <a:srgbClr val="FED2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-21076" y="4970924"/>
            <a:ext cx="3079585" cy="2801475"/>
          </a:xfrm>
          <a:prstGeom prst="roundRect">
            <a:avLst>
              <a:gd name="adj" fmla="val 0"/>
            </a:avLst>
          </a:prstGeom>
          <a:solidFill>
            <a:srgbClr val="FED2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-21075" y="3359625"/>
            <a:ext cx="3079584" cy="16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3073257" y="44244"/>
            <a:ext cx="3528900" cy="2717100"/>
          </a:xfrm>
          <a:prstGeom prst="roundRect">
            <a:avLst>
              <a:gd name="adj" fmla="val 0"/>
            </a:avLst>
          </a:prstGeom>
          <a:solidFill>
            <a:srgbClr val="FED2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189525" y="3649125"/>
            <a:ext cx="24927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300" b="0" i="0" u="none" strike="noStrike" cap="none" dirty="0" err="1" smtClean="0">
                <a:solidFill>
                  <a:srgbClr val="FF0000"/>
                </a:solidFill>
                <a:latin typeface="Roboto Black"/>
                <a:ea typeface="Roboto Black"/>
                <a:cs typeface="Roboto Black"/>
                <a:sym typeface="Roboto Black"/>
              </a:rPr>
              <a:t>Sarrah</a:t>
            </a:r>
            <a:endParaRPr lang="en-US" sz="4300" b="0" i="0" u="none" strike="noStrike" cap="none" dirty="0">
              <a:solidFill>
                <a:srgbClr val="FF0000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300" dirty="0">
                <a:solidFill>
                  <a:srgbClr val="FF0000"/>
                </a:solidFill>
                <a:latin typeface="Roboto Black"/>
                <a:ea typeface="Roboto Black"/>
                <a:cs typeface="Roboto"/>
                <a:sym typeface="Roboto Black"/>
              </a:rPr>
              <a:t>Othman</a:t>
            </a:r>
            <a:endParaRPr sz="4300" b="1" i="0" u="none" strike="noStrike" cap="none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4294967295"/>
          </p:nvPr>
        </p:nvSpPr>
        <p:spPr>
          <a:xfrm>
            <a:off x="3087103" y="1"/>
            <a:ext cx="3388472" cy="27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Demographics</a:t>
            </a:r>
            <a:endParaRPr lang="en-US" sz="19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>
              <a:buClr>
                <a:srgbClr val="595959"/>
              </a:buClr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Female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Age  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21 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Lives </a:t>
            </a: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in an apartment in 6 October city.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2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3058509" y="2733675"/>
            <a:ext cx="3528900" cy="2863200"/>
          </a:xfrm>
          <a:prstGeom prst="roundRect">
            <a:avLst>
              <a:gd name="adj" fmla="val 0"/>
            </a:avLst>
          </a:prstGeom>
          <a:solidFill>
            <a:srgbClr val="D9E8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4294967295"/>
          </p:nvPr>
        </p:nvSpPr>
        <p:spPr>
          <a:xfrm>
            <a:off x="1" y="4970924"/>
            <a:ext cx="3058508" cy="280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000000"/>
              </a:buClr>
              <a:buNone/>
            </a:pPr>
            <a:r>
              <a:rPr lang="en" sz="1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Background </a:t>
            </a:r>
          </a:p>
          <a:p>
            <a:pPr marL="0" lvl="0" indent="0"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Single.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She lives with her family.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Studied at faculty of science.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She is a fresh  graduate.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looking for work.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4294967295"/>
          </p:nvPr>
        </p:nvSpPr>
        <p:spPr>
          <a:xfrm>
            <a:off x="6558455" y="-1"/>
            <a:ext cx="3499946" cy="2787454"/>
          </a:xfrm>
          <a:prstGeom prst="rect">
            <a:avLst/>
          </a:prstGeom>
          <a:solidFill>
            <a:srgbClr val="FDB9FA"/>
          </a:solidFill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Challenges</a:t>
            </a:r>
            <a:endParaRPr lang="ar-EG" sz="1200" b="1" dirty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Montserrat"/>
              <a:sym typeface="Montserrat"/>
            </a:endParaRPr>
          </a:p>
          <a:p>
            <a:pPr marL="336551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The "Empty Page" Syndrome: Having no professional work history to fill a CV.</a:t>
            </a:r>
          </a:p>
          <a:p>
            <a:pPr marL="336551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Lack of Network: Doesn't know any "insiders" or recruiters in their field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.</a:t>
            </a:r>
            <a:endParaRPr lang="ar-EG" sz="1200" b="1" dirty="0" smtClean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Leelawadee UI" pitchFamily="34" charset="-34"/>
              <a:sym typeface="Montserrat"/>
            </a:endParaRPr>
          </a:p>
          <a:p>
            <a:pPr marL="336551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Imposter Syndrome: Feeling like they aren't "qualified" enough to even have a LinkedIn profile.</a:t>
            </a: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4294967295"/>
          </p:nvPr>
        </p:nvSpPr>
        <p:spPr>
          <a:xfrm>
            <a:off x="3076362" y="2717101"/>
            <a:ext cx="3511047" cy="2863200"/>
          </a:xfrm>
          <a:prstGeom prst="rect">
            <a:avLst/>
          </a:prstGeom>
          <a:solidFill>
            <a:srgbClr val="FDB9FA"/>
          </a:solidFill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fr-FR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Identifiers</a:t>
            </a:r>
            <a:endParaRPr lang="fr-FR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Using social media (Facebook -instegram ) </a:t>
            </a:r>
            <a:endParaRPr lang="ar-EG" sz="13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/>
              <a:t>Follows career influencers and educational </a:t>
            </a:r>
            <a:r>
              <a:rPr lang="en-US" sz="1400" b="1" dirty="0" smtClean="0"/>
              <a:t>creators</a:t>
            </a:r>
            <a:endParaRPr lang="ar-EG" sz="1400" b="1" dirty="0" smtClean="0"/>
          </a:p>
          <a:p>
            <a:pPr marL="36576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/>
              <a:t>Anxious about having "zero experience" on their resume.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endParaRPr lang="ar-EG" sz="1400" b="1" dirty="0" smtClean="0"/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4294967295"/>
          </p:nvPr>
        </p:nvSpPr>
        <p:spPr>
          <a:xfrm>
            <a:off x="6587409" y="2778925"/>
            <a:ext cx="3470915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What can we do?</a:t>
            </a:r>
            <a:endParaRPr lang="en-US" sz="19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r>
              <a:rPr lang="en-US" sz="1400" b="1" dirty="0"/>
              <a:t>Design an academic CV that highlights student activities and projects</a:t>
            </a:r>
            <a:r>
              <a:rPr lang="en-US" sz="1400" b="1" dirty="0" smtClean="0"/>
              <a:t>.</a:t>
            </a:r>
          </a:p>
          <a:p>
            <a:endParaRPr lang="en-US" sz="1200" b="1" dirty="0"/>
          </a:p>
          <a:p>
            <a:r>
              <a:rPr lang="en-US" sz="1400" b="1" dirty="0"/>
              <a:t>Set up a LinkedIn profile that attracts recruiters even without corporate experience.</a:t>
            </a:r>
          </a:p>
          <a:p>
            <a:endParaRPr lang="en-US" sz="1200" b="1" dirty="0"/>
          </a:p>
        </p:txBody>
      </p:sp>
      <p:sp>
        <p:nvSpPr>
          <p:cNvPr id="290" name="Google Shape;290;p32"/>
          <p:cNvSpPr/>
          <p:nvPr/>
        </p:nvSpPr>
        <p:spPr>
          <a:xfrm>
            <a:off x="3058434" y="5580325"/>
            <a:ext cx="6999891" cy="2192100"/>
          </a:xfrm>
          <a:prstGeom prst="roundRect">
            <a:avLst>
              <a:gd name="adj" fmla="val 0"/>
            </a:avLst>
          </a:prstGeom>
          <a:solidFill>
            <a:srgbClr val="FB8D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2"/>
          <p:cNvSpPr txBox="1">
            <a:spLocks noGrp="1"/>
          </p:cNvSpPr>
          <p:nvPr>
            <p:ph type="body" idx="4294967295"/>
          </p:nvPr>
        </p:nvSpPr>
        <p:spPr>
          <a:xfrm>
            <a:off x="3087099" y="5774899"/>
            <a:ext cx="6750583" cy="1997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88900" indent="0">
              <a:buNone/>
            </a:pP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Goals :</a:t>
            </a:r>
          </a:p>
          <a:p>
            <a:r>
              <a:rPr lang="en-US" sz="1600" b="1" dirty="0"/>
              <a:t>Secure a prestigious internship</a:t>
            </a:r>
            <a:r>
              <a:rPr lang="en-US" sz="1600" b="1" dirty="0" smtClean="0"/>
              <a:t>.</a:t>
            </a:r>
          </a:p>
          <a:p>
            <a:r>
              <a:rPr lang="en-US" sz="1600" b="1" dirty="0" smtClean="0"/>
              <a:t>Build </a:t>
            </a:r>
            <a:r>
              <a:rPr lang="en-US" sz="1600" b="1" dirty="0"/>
              <a:t>a professional LinkedIn presence from scratch.</a:t>
            </a:r>
          </a:p>
          <a:p>
            <a:endParaRPr lang="en-US" sz="16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b="1" dirty="0"/>
          </a:p>
          <a:p>
            <a:endParaRPr lang="en-US" sz="1600" b="1" dirty="0" smtClean="0"/>
          </a:p>
          <a:p>
            <a:endParaRPr lang="en-US" sz="1600" b="1" dirty="0" smtClean="0"/>
          </a:p>
          <a:p>
            <a:endParaRPr lang="en-US" sz="1600" b="1" dirty="0" smtClean="0"/>
          </a:p>
          <a:p>
            <a:pPr marL="88900" indent="0">
              <a:buNone/>
            </a:pPr>
            <a:endParaRPr lang="en-US" sz="1400" dirty="0"/>
          </a:p>
          <a:p>
            <a:pPr marL="88900" indent="0">
              <a:buNone/>
            </a:pPr>
            <a:endParaRPr lang="en-US" sz="1400" dirty="0"/>
          </a:p>
          <a:p>
            <a:pPr marL="88900" indent="0">
              <a:buNone/>
            </a:pPr>
            <a:endParaRPr sz="1400" b="1" dirty="0">
              <a:solidFill>
                <a:schemeClr val="tx1">
                  <a:lumMod val="85000"/>
                  <a:lumOff val="1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 descr="C:\Users\sony\Desktop\بنت  انترفيو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58509" cy="350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3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/>
          <p:nvPr/>
        </p:nvSpPr>
        <p:spPr>
          <a:xfrm>
            <a:off x="6418500" y="1570"/>
            <a:ext cx="3639900" cy="2717100"/>
          </a:xfrm>
          <a:prstGeom prst="roundRect">
            <a:avLst>
              <a:gd name="adj" fmla="val 0"/>
            </a:avLst>
          </a:prstGeom>
          <a:solidFill>
            <a:srgbClr val="DFEE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6418500" y="2717099"/>
            <a:ext cx="3639900" cy="2863200"/>
          </a:xfrm>
          <a:prstGeom prst="roundRect">
            <a:avLst>
              <a:gd name="adj" fmla="val 0"/>
            </a:avLst>
          </a:prstGeom>
          <a:solidFill>
            <a:srgbClr val="B3C7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9725" y="4970924"/>
            <a:ext cx="2879700" cy="2801475"/>
          </a:xfrm>
          <a:prstGeom prst="roundRect">
            <a:avLst>
              <a:gd name="adj" fmla="val 0"/>
            </a:avLst>
          </a:prstGeom>
          <a:solidFill>
            <a:srgbClr val="EBF2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-21075" y="3359625"/>
            <a:ext cx="2913900" cy="16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2889575" y="0"/>
            <a:ext cx="3528900" cy="2717100"/>
          </a:xfrm>
          <a:prstGeom prst="roundRect">
            <a:avLst>
              <a:gd name="adj" fmla="val 0"/>
            </a:avLst>
          </a:prstGeom>
          <a:solidFill>
            <a:srgbClr val="CADD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189525" y="3649125"/>
            <a:ext cx="24927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4300" b="0" i="0" u="none" strike="noStrike" cap="none" dirty="0">
                <a:solidFill>
                  <a:schemeClr val="accent1">
                    <a:lumMod val="75000"/>
                  </a:schemeClr>
                </a:solidFill>
                <a:latin typeface="Roboto Black"/>
                <a:ea typeface="Roboto Black"/>
                <a:cs typeface="Roboto Black"/>
                <a:sym typeface="Roboto Black"/>
              </a:rPr>
              <a:t>Amr</a:t>
            </a:r>
            <a:endParaRPr sz="4300" b="1" i="0" u="none" strike="noStrike" cap="none" dirty="0">
              <a:solidFill>
                <a:schemeClr val="accent1">
                  <a:lumMod val="7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" sz="4300" b="1" dirty="0">
                <a:solidFill>
                  <a:schemeClr val="accent1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Hussen</a:t>
            </a:r>
            <a:endParaRPr sz="4300" b="1" i="0" u="none" strike="noStrike" cap="none" dirty="0">
              <a:solidFill>
                <a:schemeClr val="accent1">
                  <a:lumMod val="7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4294967295"/>
          </p:nvPr>
        </p:nvSpPr>
        <p:spPr>
          <a:xfrm>
            <a:off x="2892825" y="1571"/>
            <a:ext cx="3525650" cy="271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Demographics</a:t>
            </a:r>
            <a:endParaRPr lang="en-US" sz="19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>
              <a:buClr>
                <a:srgbClr val="595959"/>
              </a:buClr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Male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Age  </a:t>
            </a:r>
            <a:r>
              <a:rPr lang="ar-EG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2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3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Unemployed or in a temporary "survival" 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job</a:t>
            </a:r>
            <a:endParaRPr lang="ar-EG" sz="13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Budget: Limited (looking for high value at an affordable price).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2889575" y="2717100"/>
            <a:ext cx="3528900" cy="2863200"/>
          </a:xfrm>
          <a:prstGeom prst="roundRect">
            <a:avLst>
              <a:gd name="adj" fmla="val 0"/>
            </a:avLst>
          </a:prstGeom>
          <a:solidFill>
            <a:srgbClr val="D9E8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4294967295"/>
          </p:nvPr>
        </p:nvSpPr>
        <p:spPr>
          <a:xfrm>
            <a:off x="9725" y="4970925"/>
            <a:ext cx="2879853" cy="28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000000"/>
              </a:buClr>
              <a:buNone/>
            </a:pPr>
            <a:r>
              <a:rPr lang="en" sz="19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Background </a:t>
            </a:r>
          </a:p>
          <a:p>
            <a:pPr marL="0" lvl="0" indent="0">
              <a:buClr>
                <a:srgbClr val="595959"/>
              </a:buClr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Single 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3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Unemployed      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Live alone and pays a rent .                               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He got trainings  at some banks and companies.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4294967295"/>
          </p:nvPr>
        </p:nvSpPr>
        <p:spPr>
          <a:xfrm>
            <a:off x="6418475" y="1571"/>
            <a:ext cx="3639850" cy="2715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Challenges</a:t>
            </a:r>
            <a:endParaRPr lang="ar-EG" sz="1200" b="1" dirty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Leelawadee UI" pitchFamily="34" charset="-34"/>
              <a:sym typeface="Montserrat"/>
            </a:endParaRPr>
          </a:p>
          <a:p>
            <a:pPr marL="0" lvl="0" indent="0">
              <a:buClr>
                <a:srgbClr val="595959"/>
              </a:buClr>
              <a:buNone/>
            </a:pPr>
            <a:r>
              <a:rPr lang="ar-EG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 </a:t>
            </a:r>
            <a:r>
              <a:rPr lang="ar-EG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   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The </a:t>
            </a: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ATS Black Hole: Sending hundreds of </a:t>
            </a:r>
            <a:r>
              <a:rPr lang="ar-EG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          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applications </a:t>
            </a: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and getting zero responses </a:t>
            </a:r>
            <a:r>
              <a:rPr lang="ar-EG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             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(</a:t>
            </a: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getting filtered out by bots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).</a:t>
            </a:r>
            <a:endParaRPr lang="ar-EG" sz="1200" b="1" dirty="0" smtClean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Leelawadee UI" pitchFamily="34" charset="-34"/>
              <a:sym typeface="Montserrat"/>
            </a:endParaRP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Market Competition: Competing with thousands of other grads with the same 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degree.</a:t>
            </a:r>
            <a:endParaRPr lang="ar-EG" sz="1200" b="1" dirty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Leelawadee UI" pitchFamily="34" charset="-34"/>
              <a:sym typeface="Montserrat"/>
            </a:endParaRP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The </a:t>
            </a: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"Experience" Paradox: Seeing "Entry-level" jobs that require 2–3 years of experience.</a:t>
            </a: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endParaRPr lang="en-US" sz="1200" b="1" dirty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Leelawadee UI" pitchFamily="34" charset="-34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4294967295"/>
          </p:nvPr>
        </p:nvSpPr>
        <p:spPr>
          <a:xfrm>
            <a:off x="2892825" y="2717100"/>
            <a:ext cx="3525600" cy="28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Identifiers</a:t>
            </a: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>
              <a:buClr>
                <a:srgbClr val="595959"/>
              </a:buClr>
              <a:buNone/>
            </a:pPr>
            <a:endParaRPr lang="en-US" sz="10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Frustrated by "ATS" (Applicant Tracking Systems) rejections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.</a:t>
            </a:r>
            <a:endParaRPr lang="ar-EG" sz="13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Spends </a:t>
            </a: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hours on LinkedIn but doesn't know how to network.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Values "how-to" guides and success stories.</a:t>
            </a: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4294967295"/>
          </p:nvPr>
        </p:nvSpPr>
        <p:spPr>
          <a:xfrm>
            <a:off x="6475575" y="2878413"/>
            <a:ext cx="3582750" cy="270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What can we do?</a:t>
            </a:r>
            <a:endParaRPr lang="en-US" sz="19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Write an ATS-optimized CV using industry-specific keywords.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Create a professional Portfolio/Website to visually prove their skills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.</a:t>
            </a:r>
            <a:endParaRPr lang="ar-EG" sz="12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2892825" y="5580299"/>
            <a:ext cx="7165500" cy="2192100"/>
          </a:xfrm>
          <a:prstGeom prst="roundRect">
            <a:avLst>
              <a:gd name="adj" fmla="val 0"/>
            </a:avLst>
          </a:prstGeom>
          <a:solidFill>
            <a:srgbClr val="CADDE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2"/>
          <p:cNvSpPr txBox="1">
            <a:spLocks noGrp="1"/>
          </p:cNvSpPr>
          <p:nvPr>
            <p:ph type="body" idx="4294967295"/>
          </p:nvPr>
        </p:nvSpPr>
        <p:spPr>
          <a:xfrm>
            <a:off x="2892825" y="5580299"/>
            <a:ext cx="7165575" cy="21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Goals</a:t>
            </a:r>
            <a:endParaRPr lang="en-US" sz="10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lvl="0" indent="-292100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Create a CV that passes ATS 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filters </a:t>
            </a:r>
            <a:r>
              <a:rPr lang="ar-EG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 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Increase </a:t>
            </a: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performance without any risk of injuries.</a:t>
            </a:r>
          </a:p>
          <a:p>
            <a:pPr lvl="0" indent="-292100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Build a portfolio to showcase technical skills and graduation projects.</a:t>
            </a: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Picture 2" descr="C:\Users\sony\Desktop\بيرسونا 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7484" y="0"/>
            <a:ext cx="3040309" cy="3590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785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3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/>
          <p:nvPr/>
        </p:nvSpPr>
        <p:spPr>
          <a:xfrm>
            <a:off x="6418425" y="0"/>
            <a:ext cx="3639900" cy="271710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6418425" y="2717100"/>
            <a:ext cx="3639900" cy="28632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/>
          <p:nvPr/>
        </p:nvSpPr>
        <p:spPr>
          <a:xfrm>
            <a:off x="9725" y="3886200"/>
            <a:ext cx="2879700" cy="38862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-21075" y="3359625"/>
            <a:ext cx="2913900" cy="16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2889575" y="0"/>
            <a:ext cx="3528900" cy="2717100"/>
          </a:xfrm>
          <a:prstGeom prst="roundRect">
            <a:avLst>
              <a:gd name="adj" fmla="val 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2"/>
          <p:cNvSpPr txBox="1"/>
          <p:nvPr/>
        </p:nvSpPr>
        <p:spPr>
          <a:xfrm>
            <a:off x="189525" y="3649125"/>
            <a:ext cx="24927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300" i="0" u="none" strike="noStrike" cap="none" dirty="0">
                <a:solidFill>
                  <a:schemeClr val="tx1"/>
                </a:solidFill>
                <a:latin typeface="Roboto Black"/>
                <a:ea typeface="Roboto Black"/>
                <a:cs typeface="Roboto Black"/>
                <a:sym typeface="Roboto Black"/>
              </a:rPr>
              <a:t>Kareem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4300" dirty="0">
                <a:solidFill>
                  <a:schemeClr val="tx1"/>
                </a:solidFill>
                <a:latin typeface="Roboto Black"/>
                <a:ea typeface="Roboto Black"/>
                <a:cs typeface="Roboto"/>
                <a:sym typeface="Roboto Black"/>
              </a:rPr>
              <a:t>Said </a:t>
            </a:r>
            <a:endParaRPr sz="4300" i="0" u="none" strike="noStrike" cap="none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2"/>
          <p:cNvSpPr txBox="1">
            <a:spLocks noGrp="1"/>
          </p:cNvSpPr>
          <p:nvPr>
            <p:ph type="body" idx="4294967295"/>
          </p:nvPr>
        </p:nvSpPr>
        <p:spPr>
          <a:xfrm>
            <a:off x="2892825" y="1"/>
            <a:ext cx="3525600" cy="2717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Demographics</a:t>
            </a:r>
            <a:endParaRPr lang="en-US" sz="19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>
              <a:buClr>
                <a:srgbClr val="595959"/>
              </a:buClr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Male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Age  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25- 30</a:t>
            </a:r>
            <a:endParaRPr lang="en-US" sz="13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Status: Currently employed but seeking a total career change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.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Location: Remote-work enthusiasts or city-based professionals.</a:t>
            </a:r>
            <a:endParaRPr lang="en-US"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>
              <a:buClr>
                <a:srgbClr val="595959"/>
              </a:buClr>
              <a:buNone/>
            </a:pPr>
            <a:endParaRPr lang="en-US"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2"/>
          <p:cNvSpPr/>
          <p:nvPr/>
        </p:nvSpPr>
        <p:spPr>
          <a:xfrm>
            <a:off x="2889575" y="2717100"/>
            <a:ext cx="3528900" cy="286320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2"/>
          <p:cNvSpPr txBox="1">
            <a:spLocks noGrp="1"/>
          </p:cNvSpPr>
          <p:nvPr>
            <p:ph type="body" idx="4294967295"/>
          </p:nvPr>
        </p:nvSpPr>
        <p:spPr>
          <a:xfrm>
            <a:off x="9725" y="4970925"/>
            <a:ext cx="2879853" cy="28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000000"/>
              </a:buClr>
              <a:buNone/>
            </a:pPr>
            <a:r>
              <a:rPr lang="en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Background </a:t>
            </a:r>
          </a:p>
          <a:p>
            <a:pPr marL="0" lvl="0" indent="0">
              <a:buClr>
                <a:srgbClr val="595959"/>
              </a:buClr>
              <a:buNone/>
            </a:pPr>
            <a:endParaRPr lang="en-US" sz="1000" i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Married and has two kids</a:t>
            </a:r>
          </a:p>
          <a:p>
            <a:pPr marL="165101" lvl="0" indent="0">
              <a:buClr>
                <a:srgbClr val="434343"/>
              </a:buClr>
              <a:buSzPts val="1000"/>
              <a:buNone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     (boy&amp; girl)</a:t>
            </a: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Work 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as an accountant .</a:t>
            </a:r>
            <a:endParaRPr lang="en-US" sz="1400" b="1" dirty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4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365760" lvl="0" indent="-200659"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Works </a:t>
            </a: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for along time and 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the salary is not enough</a:t>
            </a:r>
            <a:endParaRPr sz="14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2"/>
          <p:cNvSpPr txBox="1">
            <a:spLocks noGrp="1"/>
          </p:cNvSpPr>
          <p:nvPr>
            <p:ph type="body" idx="4294967295"/>
          </p:nvPr>
        </p:nvSpPr>
        <p:spPr>
          <a:xfrm>
            <a:off x="6418425" y="0"/>
            <a:ext cx="3582750" cy="287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Challenges</a:t>
            </a:r>
            <a:endParaRPr lang="ar-EG" sz="1200" b="1" dirty="0">
              <a:solidFill>
                <a:srgbClr val="434343"/>
              </a:solidFill>
              <a:latin typeface="Leelawadee UI" pitchFamily="34" charset="-34"/>
              <a:ea typeface="Microsoft JhengHei UI" pitchFamily="34" charset="-120"/>
              <a:cs typeface="Montserrat"/>
              <a:sym typeface="Montserrat"/>
            </a:endParaRP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Irrelevant History: Their past 5 years of work look completely unrelated to the job they want now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.</a:t>
            </a: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Lowered Authority: Feeling like they are "starting over" at the bottom of the 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ladder.</a:t>
            </a:r>
          </a:p>
          <a:p>
            <a:pPr marL="336551" lvl="0" indent="-171450">
              <a:spcBef>
                <a:spcPts val="1200"/>
              </a:spcBef>
              <a:buClr>
                <a:srgbClr val="434343"/>
              </a:buClr>
              <a:buSzPts val="1000"/>
            </a:pP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Keyword </a:t>
            </a:r>
            <a:r>
              <a:rPr lang="en-US" sz="1200" b="1" dirty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Gaps: Not knowing the specific "lingo" or buzzwords of the new industry to attract the right headhunters</a:t>
            </a:r>
            <a:r>
              <a:rPr lang="en-US" sz="1200" b="1" dirty="0" smtClean="0">
                <a:solidFill>
                  <a:srgbClr val="434343"/>
                </a:solidFill>
                <a:latin typeface="Leelawadee UI" pitchFamily="34" charset="-34"/>
                <a:ea typeface="Microsoft JhengHei UI" pitchFamily="34" charset="-120"/>
                <a:cs typeface="Leelawadee UI" pitchFamily="34" charset="-34"/>
                <a:sym typeface="Montserrat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2"/>
          <p:cNvSpPr txBox="1">
            <a:spLocks noGrp="1"/>
          </p:cNvSpPr>
          <p:nvPr>
            <p:ph type="body" idx="4294967295"/>
          </p:nvPr>
        </p:nvSpPr>
        <p:spPr>
          <a:xfrm>
            <a:off x="2892825" y="2717100"/>
            <a:ext cx="3525600" cy="28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Identifiers</a:t>
            </a:r>
            <a:endParaRPr lang="en-US" sz="10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>
              <a:buFont typeface="Arial"/>
              <a:buChar char="•"/>
            </a:pPr>
            <a:r>
              <a:rPr lang="en-US" sz="1400" b="1" dirty="0">
                <a:solidFill>
                  <a:srgbClr val="0A0A0A"/>
                </a:solidFill>
                <a:latin typeface="Google Sans"/>
              </a:rPr>
              <a:t>Active on LinkedIn and professional Facebook groups.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Has "transferable skills" but doesn't know how to market them</a:t>
            </a:r>
            <a:r>
              <a:rPr lang="en-US" sz="1300" b="1" dirty="0" smtClean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300" b="1" dirty="0">
                <a:solidFill>
                  <a:srgbClr val="434343"/>
                </a:solidFill>
                <a:latin typeface="Leelawadee UI" pitchFamily="34" charset="-34"/>
                <a:ea typeface="Roboto"/>
                <a:cs typeface="Leelawadee UI" pitchFamily="34" charset="-34"/>
                <a:sym typeface="Montserrat"/>
              </a:rPr>
              <a:t>Willing to invest more for a premium, expert-looking brand.</a:t>
            </a:r>
            <a:endParaRPr lang="en-US" sz="1300" b="1" dirty="0" smtClean="0">
              <a:solidFill>
                <a:srgbClr val="434343"/>
              </a:solidFill>
              <a:latin typeface="Leelawadee UI" pitchFamily="34" charset="-34"/>
              <a:ea typeface="Roboto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300" b="1" dirty="0" smtClean="0">
              <a:solidFill>
                <a:srgbClr val="434343"/>
              </a:solidFill>
              <a:latin typeface="Leelawadee UI" pitchFamily="34" charset="-34"/>
              <a:ea typeface="Roboto"/>
              <a:cs typeface="Leelawadee UI" pitchFamily="34" charset="-34"/>
              <a:sym typeface="Montserrat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2"/>
          <p:cNvSpPr txBox="1">
            <a:spLocks noGrp="1"/>
          </p:cNvSpPr>
          <p:nvPr>
            <p:ph type="body" idx="4294967295"/>
          </p:nvPr>
        </p:nvSpPr>
        <p:spPr>
          <a:xfrm>
            <a:off x="6475575" y="2861187"/>
            <a:ext cx="3582750" cy="271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What can we do?</a:t>
            </a:r>
            <a:endParaRPr lang="en-US" sz="1900" dirty="0" smtClean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Revamp </a:t>
            </a: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their LinkedIn headline and "About" section to reflect the new career path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Structure their CV to highlight transferable skills rather than just old job titles.</a:t>
            </a:r>
          </a:p>
          <a:p>
            <a:pPr marL="365760" lvl="0" indent="-200659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endParaRPr lang="en-US" sz="1200" b="1" dirty="0" smtClean="0">
              <a:solidFill>
                <a:srgbClr val="434343"/>
              </a:solidFill>
              <a:latin typeface="Leelawadee UI" pitchFamily="34" charset="-34"/>
              <a:ea typeface="Montserrat"/>
              <a:cs typeface="Leelawadee UI" pitchFamily="34" charset="-34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2"/>
          <p:cNvSpPr/>
          <p:nvPr/>
        </p:nvSpPr>
        <p:spPr>
          <a:xfrm>
            <a:off x="2892825" y="5580325"/>
            <a:ext cx="7165500" cy="2192100"/>
          </a:xfrm>
          <a:prstGeom prst="roundRect">
            <a:avLst>
              <a:gd name="adj" fmla="val 0"/>
            </a:avLst>
          </a:prstGeom>
          <a:solidFill>
            <a:srgbClr val="D6F9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2"/>
          <p:cNvSpPr txBox="1">
            <a:spLocks noGrp="1"/>
          </p:cNvSpPr>
          <p:nvPr>
            <p:ph type="body" idx="4294967295"/>
          </p:nvPr>
        </p:nvSpPr>
        <p:spPr>
          <a:xfrm>
            <a:off x="2892825" y="5580325"/>
            <a:ext cx="7165575" cy="219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100" tIns="113100" rIns="113100" bIns="113100" anchor="t" anchorCtr="0">
            <a:noAutofit/>
          </a:bodyPr>
          <a:lstStyle/>
          <a:p>
            <a:pPr marL="0" lvl="0" indent="0">
              <a:buClr>
                <a:srgbClr val="595959"/>
              </a:buClr>
              <a:buNone/>
            </a:pPr>
            <a:r>
              <a:rPr lang="en-US" sz="19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Goals</a:t>
            </a:r>
            <a:endParaRPr lang="en-US" sz="1000" dirty="0">
              <a:solidFill>
                <a:srgbClr val="262626"/>
              </a:solidFill>
              <a:latin typeface="Leelawadee UI" pitchFamily="34" charset="-34"/>
              <a:ea typeface="Roboto"/>
              <a:cs typeface="Leelawadee UI" pitchFamily="34" charset="-34"/>
              <a:sym typeface="Roboto"/>
            </a:endParaRPr>
          </a:p>
          <a:p>
            <a:pPr lvl="0" indent="-292100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Rebrand their professional identity for a new industry.</a:t>
            </a:r>
          </a:p>
          <a:p>
            <a:pPr lvl="0" indent="-292100">
              <a:spcBef>
                <a:spcPts val="1200"/>
              </a:spcBef>
              <a:buClr>
                <a:srgbClr val="434343"/>
              </a:buClr>
              <a:buSzPts val="1000"/>
              <a:buFont typeface="Montserrat"/>
              <a:buChar char="●"/>
            </a:pPr>
            <a:r>
              <a:rPr lang="en-US" sz="1400" b="1" dirty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Position themselves as a "fast learner" with relevant past expertise</a:t>
            </a:r>
            <a:r>
              <a:rPr lang="en-US" sz="1400" b="1" dirty="0" smtClean="0">
                <a:solidFill>
                  <a:srgbClr val="434343"/>
                </a:solidFill>
                <a:latin typeface="Leelawadee UI" pitchFamily="34" charset="-34"/>
                <a:ea typeface="Montserrat"/>
                <a:cs typeface="Leelawadee UI" pitchFamily="34" charset="-34"/>
                <a:sym typeface="Montserrat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000" dirty="0">
              <a:solidFill>
                <a:srgbClr val="26262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1400" b="1" dirty="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8031" y="1"/>
            <a:ext cx="2900856" cy="335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84834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583</Words>
  <Application>Microsoft Office PowerPoint</Application>
  <PresentationFormat>Custom</PresentationFormat>
  <Paragraphs>111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8" baseType="lpstr">
      <vt:lpstr>Arial</vt:lpstr>
      <vt:lpstr>Leelawadee UI</vt:lpstr>
      <vt:lpstr>Courier New</vt:lpstr>
      <vt:lpstr>Century Gothic</vt:lpstr>
      <vt:lpstr>Roboto</vt:lpstr>
      <vt:lpstr>Roboto Black</vt:lpstr>
      <vt:lpstr>Times New Roman</vt:lpstr>
      <vt:lpstr>Palatino Linotype</vt:lpstr>
      <vt:lpstr>Microsoft JhengHei UI</vt:lpstr>
      <vt:lpstr>Montserrat</vt:lpstr>
      <vt:lpstr>Google Sans</vt:lpstr>
      <vt:lpstr>Simple Light</vt:lpstr>
      <vt:lpstr>Executive</vt:lpstr>
      <vt:lpstr>PowerPoint Presentation</vt:lpstr>
      <vt:lpstr>Smart objective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Gabriel Mesa</dc:title>
  <dc:creator>k</dc:creator>
  <cp:lastModifiedBy>sony</cp:lastModifiedBy>
  <cp:revision>47</cp:revision>
  <dcterms:modified xsi:type="dcterms:W3CDTF">2026-04-27T22:53:06Z</dcterms:modified>
</cp:coreProperties>
</file>