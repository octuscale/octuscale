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71" r:id="rId9"/>
    <p:sldId id="272" r:id="rId10"/>
    <p:sldId id="268" r:id="rId11"/>
    <p:sldId id="269" r:id="rId12"/>
    <p:sldId id="273" r:id="rId13"/>
    <p:sldId id="270" r:id="rId14"/>
  </p:sldIdLst>
  <p:sldSz cx="18288000" cy="10287000"/>
  <p:notesSz cx="6858000" cy="9144000"/>
  <p:embeddedFontLst>
    <p:embeddedFont>
      <p:font typeface="League Spartan" panose="020B0604020202020204" charset="0"/>
      <p:regular r:id="rId15"/>
    </p:embeddedFont>
    <p:embeddedFont>
      <p:font typeface="Poppins" panose="00000500000000000000" pitchFamily="2" charset="0"/>
      <p:regular r:id="rId16"/>
      <p:bold r:id="rId17"/>
    </p:embeddedFont>
    <p:embeddedFont>
      <p:font typeface="Poppins Bold" panose="00000800000000000000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3654" y="1136115"/>
            <a:ext cx="14986945" cy="740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1"/>
              </a:lnSpc>
              <a:spcBef>
                <a:spcPct val="0"/>
              </a:spcBef>
            </a:pPr>
            <a:r>
              <a:rPr lang="en-US" sz="5501" u="sng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Executive Summary (Last 28 Days)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3950" y="2399799"/>
            <a:ext cx="14201250" cy="3817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4094" lvl="1" indent="-637047" algn="l">
              <a:lnSpc>
                <a:spcPts val="5901"/>
              </a:lnSpc>
              <a:buFont typeface="Arial"/>
              <a:buChar char="•"/>
            </a:pPr>
            <a:r>
              <a:rPr lang="en-US" sz="59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Views</a:t>
            </a:r>
            <a:r>
              <a:rPr lang="en-US" sz="5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2,619 (Up by 394%)</a:t>
            </a:r>
          </a:p>
          <a:p>
            <a:pPr algn="ctr">
              <a:lnSpc>
                <a:spcPts val="5901"/>
              </a:lnSpc>
              <a:spcBef>
                <a:spcPct val="0"/>
              </a:spcBef>
            </a:pPr>
            <a:endParaRPr lang="en-US" sz="59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274094" lvl="1" indent="-637047" algn="l">
              <a:lnSpc>
                <a:spcPts val="5901"/>
              </a:lnSpc>
              <a:buFont typeface="Arial"/>
              <a:buChar char="•"/>
            </a:pPr>
            <a:r>
              <a:rPr lang="en-US" sz="59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Engagement</a:t>
            </a:r>
            <a:r>
              <a:rPr lang="en-US" sz="5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270 (Up by 260%)</a:t>
            </a:r>
          </a:p>
          <a:p>
            <a:pPr algn="ctr">
              <a:lnSpc>
                <a:spcPts val="5901"/>
              </a:lnSpc>
              <a:spcBef>
                <a:spcPct val="0"/>
              </a:spcBef>
            </a:pPr>
            <a:endParaRPr lang="en-US" sz="59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274094" lvl="1" indent="-637047" algn="l">
              <a:lnSpc>
                <a:spcPts val="5901"/>
              </a:lnSpc>
              <a:buFont typeface="Arial"/>
              <a:buChar char="•"/>
            </a:pPr>
            <a:r>
              <a:rPr lang="en-US" sz="59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 Followers</a:t>
            </a:r>
            <a:r>
              <a:rPr lang="en-US" sz="5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69 (Up by 331%)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7277100"/>
            <a:ext cx="18288000" cy="2362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1"/>
              </a:lnSpc>
              <a:spcBef>
                <a:spcPct val="0"/>
              </a:spcBef>
            </a:pPr>
            <a:r>
              <a:rPr lang="en-US" sz="45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page is in a "Healthy Growth" phase. The fact that engagement growth (260%) is almost keeping pace with view growth (394%) means my audience isn't just scrolling past;</a:t>
            </a:r>
          </a:p>
          <a:p>
            <a:pPr algn="ctr">
              <a:lnSpc>
                <a:spcPts val="4501"/>
              </a:lnSpc>
              <a:spcBef>
                <a:spcPct val="0"/>
              </a:spcBef>
            </a:pPr>
            <a:r>
              <a:rPr lang="en-US" sz="45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they are actually interacting with the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1864" y="1076325"/>
            <a:ext cx="15073536" cy="726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1"/>
              </a:lnSpc>
              <a:spcBef>
                <a:spcPct val="0"/>
              </a:spcBef>
            </a:pPr>
            <a:r>
              <a:rPr lang="en-US" sz="55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"Golden Week" Analysis (Last 7 Days)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76164" y="2326356"/>
            <a:ext cx="15782181" cy="3817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74094" lvl="1" indent="-637047" algn="l">
              <a:lnSpc>
                <a:spcPts val="5901"/>
              </a:lnSpc>
              <a:buFont typeface="Arial"/>
              <a:buChar char="•"/>
            </a:pPr>
            <a:r>
              <a:rPr lang="en-US" sz="59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Views</a:t>
            </a:r>
            <a:r>
              <a:rPr lang="en-US" sz="5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1906 (A massive 20x% increase).</a:t>
            </a:r>
          </a:p>
          <a:p>
            <a:pPr algn="ctr">
              <a:lnSpc>
                <a:spcPts val="5901"/>
              </a:lnSpc>
              <a:spcBef>
                <a:spcPct val="0"/>
              </a:spcBef>
            </a:pPr>
            <a:endParaRPr lang="en-US" sz="59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274094" lvl="1" indent="-637047" algn="l">
              <a:lnSpc>
                <a:spcPts val="5901"/>
              </a:lnSpc>
              <a:buFont typeface="Arial"/>
              <a:buChar char="•"/>
            </a:pPr>
            <a:r>
              <a:rPr lang="en-US" sz="59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Engagement</a:t>
            </a:r>
            <a:r>
              <a:rPr lang="en-US" sz="5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168 (An increase of 168x).</a:t>
            </a:r>
          </a:p>
          <a:p>
            <a:pPr algn="ctr">
              <a:lnSpc>
                <a:spcPts val="5901"/>
              </a:lnSpc>
              <a:spcBef>
                <a:spcPct val="0"/>
              </a:spcBef>
            </a:pPr>
            <a:endParaRPr lang="en-US" sz="59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274094" lvl="1" indent="-637047" algn="l">
              <a:lnSpc>
                <a:spcPts val="5901"/>
              </a:lnSpc>
              <a:buFont typeface="Arial"/>
              <a:buChar char="•"/>
            </a:pPr>
            <a:r>
              <a:rPr lang="en-US" sz="59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 Followers</a:t>
            </a:r>
            <a:r>
              <a:rPr lang="en-US" sz="5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49 (Up by 49x%).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74862" y="6600574"/>
            <a:ext cx="15529768" cy="132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1"/>
              </a:lnSpc>
              <a:spcBef>
                <a:spcPct val="0"/>
              </a:spcBef>
            </a:pPr>
            <a:r>
              <a:rPr lang="en-US" sz="51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weekly </a:t>
            </a:r>
            <a:r>
              <a:rPr lang="en-US" sz="510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Engagement Rate </a:t>
            </a:r>
            <a:r>
              <a:rPr lang="en-US" sz="51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is approximately 8.8% </a:t>
            </a:r>
          </a:p>
          <a:p>
            <a:pPr algn="ctr">
              <a:lnSpc>
                <a:spcPts val="5101"/>
              </a:lnSpc>
              <a:spcBef>
                <a:spcPct val="0"/>
              </a:spcBef>
            </a:pPr>
            <a:endParaRPr lang="en-US" sz="51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552A17-706B-1E56-6C6D-949264D99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1174"/>
              </p:ext>
            </p:extLst>
          </p:nvPr>
        </p:nvGraphicFramePr>
        <p:xfrm>
          <a:off x="457200" y="571500"/>
          <a:ext cx="17068799" cy="8915399"/>
        </p:xfrm>
        <a:graphic>
          <a:graphicData uri="http://schemas.openxmlformats.org/drawingml/2006/table">
            <a:tbl>
              <a:tblPr/>
              <a:tblGrid>
                <a:gridCol w="5883563">
                  <a:extLst>
                    <a:ext uri="{9D8B030D-6E8A-4147-A177-3AD203B41FA5}">
                      <a16:colId xmlns:a16="http://schemas.microsoft.com/office/drawing/2014/main" val="1153871843"/>
                    </a:ext>
                  </a:extLst>
                </a:gridCol>
                <a:gridCol w="5883563">
                  <a:extLst>
                    <a:ext uri="{9D8B030D-6E8A-4147-A177-3AD203B41FA5}">
                      <a16:colId xmlns:a16="http://schemas.microsoft.com/office/drawing/2014/main" val="3233948774"/>
                    </a:ext>
                  </a:extLst>
                </a:gridCol>
                <a:gridCol w="5301673">
                  <a:extLst>
                    <a:ext uri="{9D8B030D-6E8A-4147-A177-3AD203B41FA5}">
                      <a16:colId xmlns:a16="http://schemas.microsoft.com/office/drawing/2014/main" val="1718546193"/>
                    </a:ext>
                  </a:extLst>
                </a:gridCol>
              </a:tblGrid>
              <a:tr h="199285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Result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269356"/>
                  </a:ext>
                </a:extLst>
              </a:tr>
              <a:tr h="199285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Growth Velocity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+885% Weekly Views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Explosive</a:t>
                      </a:r>
                      <a:endParaRPr lang="en-US" sz="4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97354"/>
                  </a:ext>
                </a:extLst>
              </a:tr>
              <a:tr h="199285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Audience Retention</a:t>
                      </a:r>
                      <a:endParaRPr lang="en-US" sz="4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12.7% Engagement Rate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Authority</a:t>
                      </a:r>
                      <a:endParaRPr lang="en-US" sz="4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5546"/>
                  </a:ext>
                </a:extLst>
              </a:tr>
              <a:tr h="293683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Conversion Efficiency</a:t>
                      </a:r>
                      <a:endParaRPr lang="en-US" sz="4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 New Followers / 1.4k Views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Room for Growth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2565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74110" y="1475122"/>
            <a:ext cx="3716972" cy="8409671"/>
          </a:xfrm>
          <a:custGeom>
            <a:avLst/>
            <a:gdLst/>
            <a:ahLst/>
            <a:cxnLst/>
            <a:rect l="l" t="t" r="r" b="b"/>
            <a:pathLst>
              <a:path w="3716972" h="8409671">
                <a:moveTo>
                  <a:pt x="0" y="0"/>
                </a:moveTo>
                <a:lnTo>
                  <a:pt x="3716972" y="0"/>
                </a:lnTo>
                <a:lnTo>
                  <a:pt x="3716972" y="8409671"/>
                </a:lnTo>
                <a:lnTo>
                  <a:pt x="0" y="84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6" b="-4606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TextBox 3"/>
          <p:cNvSpPr txBox="1"/>
          <p:nvPr/>
        </p:nvSpPr>
        <p:spPr>
          <a:xfrm>
            <a:off x="152400" y="932447"/>
            <a:ext cx="11395867" cy="794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01"/>
              </a:lnSpc>
              <a:spcBef>
                <a:spcPct val="0"/>
              </a:spcBef>
            </a:pPr>
            <a:r>
              <a:rPr lang="en-US" sz="5901" u="sng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 Content Performance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3512050"/>
            <a:ext cx="10284227" cy="433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sz="42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post titled " (Applying a lot with no response?</a:t>
            </a:r>
          </a:p>
          <a:p>
            <a:pPr algn="ctr">
              <a:lnSpc>
                <a:spcPts val="4201"/>
              </a:lnSpc>
              <a:spcBef>
                <a:spcPct val="0"/>
              </a:spcBef>
            </a:pPr>
            <a:endParaRPr lang="en-US" sz="42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sz="42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Views: 315 (Accounting for about 40% of your weekly traffic).</a:t>
            </a:r>
          </a:p>
          <a:p>
            <a:pPr algn="ctr">
              <a:lnSpc>
                <a:spcPts val="4201"/>
              </a:lnSpc>
              <a:spcBef>
                <a:spcPct val="0"/>
              </a:spcBef>
            </a:pPr>
            <a:endParaRPr lang="en-US" sz="42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07073" lvl="1" indent="-453537" algn="l">
              <a:lnSpc>
                <a:spcPts val="4201"/>
              </a:lnSpc>
              <a:buFont typeface="Arial"/>
              <a:buChar char="•"/>
            </a:pPr>
            <a:r>
              <a:rPr lang="en-US" sz="42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Engagement: 34.</a:t>
            </a:r>
          </a:p>
          <a:p>
            <a:pPr algn="l">
              <a:lnSpc>
                <a:spcPts val="4201"/>
              </a:lnSpc>
            </a:pPr>
            <a:endParaRPr lang="en-US" sz="42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066800"/>
            <a:ext cx="18288000" cy="9113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48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Audience Insights</a:t>
            </a:r>
          </a:p>
          <a:p>
            <a:pPr algn="ctr">
              <a:lnSpc>
                <a:spcPts val="4801"/>
              </a:lnSpc>
              <a:spcBef>
                <a:spcPct val="0"/>
              </a:spcBef>
            </a:pPr>
            <a:endParaRPr lang="en-US" sz="4801" u="sng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601"/>
              </a:lnSpc>
              <a:spcBef>
                <a:spcPct val="0"/>
              </a:spcBef>
            </a:pPr>
            <a:r>
              <a:rPr lang="en-US" sz="460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Peak Time Performan</a:t>
            </a:r>
            <a:r>
              <a:rPr lang="en-US" sz="46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ce:</a:t>
            </a:r>
          </a:p>
          <a:p>
            <a:pPr algn="l">
              <a:lnSpc>
                <a:spcPts val="4601"/>
              </a:lnSpc>
              <a:spcBef>
                <a:spcPct val="0"/>
              </a:spcBef>
            </a:pPr>
            <a:endParaRPr lang="en-US" sz="46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48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Posts published during late hours (e.g., around 12:45 AM) appear to generate higher engagement, suggesting that the audience is more active during nighttime.</a:t>
            </a:r>
          </a:p>
          <a:p>
            <a:pPr algn="ctr">
              <a:lnSpc>
                <a:spcPts val="4801"/>
              </a:lnSpc>
              <a:spcBef>
                <a:spcPct val="0"/>
              </a:spcBef>
            </a:pPr>
            <a:endParaRPr lang="en-US" sz="480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601"/>
              </a:lnSpc>
              <a:spcBef>
                <a:spcPct val="0"/>
              </a:spcBef>
            </a:pPr>
            <a:r>
              <a:rPr lang="en-US" sz="460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Demographics &amp; Behavior:</a:t>
            </a:r>
          </a:p>
          <a:p>
            <a:pPr algn="l">
              <a:lnSpc>
                <a:spcPts val="4601"/>
              </a:lnSpc>
              <a:spcBef>
                <a:spcPct val="0"/>
              </a:spcBef>
            </a:pPr>
            <a:endParaRPr lang="en-US" sz="4601" u="sng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48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Based on interaction patterns and audience profiles, the majority of engaged users appear to be job seekers rather than business owners.</a:t>
            </a:r>
          </a:p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48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This insight should guide future content direction and messaging tone.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2436004071"/>
              </p:ext>
            </p:extLst>
          </p:nvPr>
        </p:nvGraphicFramePr>
        <p:xfrm>
          <a:off x="152400" y="0"/>
          <a:ext cx="18973800" cy="1070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042400" imgH="4648200" progId="Excel.Sheet.12">
                  <p:embed/>
                </p:oleObj>
              </mc:Choice>
              <mc:Fallback>
                <p:oleObj name="Worksheet" r:id="rId2" imgW="9042400" imgH="4648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" y="0"/>
                        <a:ext cx="18973800" cy="1070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066800"/>
            <a:ext cx="18288000" cy="910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1"/>
              </a:lnSpc>
              <a:spcBef>
                <a:spcPct val="0"/>
              </a:spcBef>
            </a:pPr>
            <a:r>
              <a:rPr lang="en-US" sz="470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Analysis for the Report</a:t>
            </a:r>
          </a:p>
          <a:p>
            <a:pPr algn="ctr">
              <a:lnSpc>
                <a:spcPts val="4701"/>
              </a:lnSpc>
              <a:spcBef>
                <a:spcPct val="0"/>
              </a:spcBef>
            </a:pPr>
            <a:endParaRPr lang="en-US" sz="40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101"/>
              </a:lnSpc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  1.Concentrated Imp</a:t>
            </a:r>
            <a:r>
              <a:rPr lang="en-US" sz="40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act: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41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data reveals that over 52% of the month's total views and 49% of the total engagement were generated in just the last 7 days. This proves that the current content direction is significantly more effective than previous efforts.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endParaRPr lang="en-US" sz="41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4101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41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4101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Quality Retention:</a:t>
            </a:r>
            <a:r>
              <a:rPr lang="en-US" sz="41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1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While reach exploded by 885%, the Engagement Rate remained incredibly high at 12.7%. This is a critical insight—it means the quality of the audience being reached is high, and they find the content highly relevant.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endParaRPr lang="en-US" sz="410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41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lang="en-US" sz="4101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Growth Momentum:</a:t>
            </a:r>
            <a:r>
              <a:rPr lang="en-US" sz="41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1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800% increase in follower acquisition in a single week suggests that the page has broken through the initial "stagnation" phase and is now being pushed by the algorithm to new audiences.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2800BF-3954-E016-15DB-6613A9990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8528"/>
              </p:ext>
            </p:extLst>
          </p:nvPr>
        </p:nvGraphicFramePr>
        <p:xfrm>
          <a:off x="457200" y="571500"/>
          <a:ext cx="16764001" cy="9220199"/>
        </p:xfrm>
        <a:graphic>
          <a:graphicData uri="http://schemas.openxmlformats.org/drawingml/2006/table">
            <a:tbl>
              <a:tblPr/>
              <a:tblGrid>
                <a:gridCol w="4297251">
                  <a:extLst>
                    <a:ext uri="{9D8B030D-6E8A-4147-A177-3AD203B41FA5}">
                      <a16:colId xmlns:a16="http://schemas.microsoft.com/office/drawing/2014/main" val="1157257170"/>
                    </a:ext>
                  </a:extLst>
                </a:gridCol>
                <a:gridCol w="4297251">
                  <a:extLst>
                    <a:ext uri="{9D8B030D-6E8A-4147-A177-3AD203B41FA5}">
                      <a16:colId xmlns:a16="http://schemas.microsoft.com/office/drawing/2014/main" val="3824040910"/>
                    </a:ext>
                  </a:extLst>
                </a:gridCol>
                <a:gridCol w="4297251">
                  <a:extLst>
                    <a:ext uri="{9D8B030D-6E8A-4147-A177-3AD203B41FA5}">
                      <a16:colId xmlns:a16="http://schemas.microsoft.com/office/drawing/2014/main" val="803732265"/>
                    </a:ext>
                  </a:extLst>
                </a:gridCol>
                <a:gridCol w="3872248">
                  <a:extLst>
                    <a:ext uri="{9D8B030D-6E8A-4147-A177-3AD203B41FA5}">
                      <a16:colId xmlns:a16="http://schemas.microsoft.com/office/drawing/2014/main" val="2781298706"/>
                    </a:ext>
                  </a:extLst>
                </a:gridCol>
              </a:tblGrid>
              <a:tr h="187401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Last 28 Days (Total)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Last 7 Days (The Spike)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Growth Status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35077"/>
                  </a:ext>
                </a:extLst>
              </a:tr>
              <a:tr h="187401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Views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4000" dirty="0">
                          <a:solidFill>
                            <a:srgbClr val="1F1F1F"/>
                          </a:solidFill>
                          <a:effectLst/>
                          <a:latin typeface="Poppins Bold" panose="00000800000000000000" charset="0"/>
                        </a:rPr>
                        <a:t>2,619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4000" dirty="0">
                          <a:solidFill>
                            <a:srgbClr val="1F1F1F"/>
                          </a:solidFill>
                          <a:effectLst/>
                          <a:latin typeface="Poppins Bold" panose="00000800000000000000" charset="0"/>
                        </a:rPr>
                        <a:t>1,906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+394%</a:t>
                      </a:r>
                      <a:r>
                        <a:rPr lang="en-US" sz="4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(Exponential)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581925"/>
                  </a:ext>
                </a:extLst>
              </a:tr>
              <a:tr h="187401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Engagement</a:t>
                      </a:r>
                      <a:endParaRPr lang="en-US" sz="4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4000" dirty="0">
                          <a:solidFill>
                            <a:srgbClr val="1F1F1F"/>
                          </a:solidFill>
                          <a:effectLst/>
                          <a:latin typeface="Poppins Bold" panose="00000800000000000000" charset="0"/>
                        </a:rPr>
                        <a:t>270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4000" dirty="0">
                          <a:solidFill>
                            <a:srgbClr val="1F1F1F"/>
                          </a:solidFill>
                          <a:effectLst/>
                          <a:latin typeface="Poppins Bold" panose="00000800000000000000" charset="0"/>
                        </a:rPr>
                        <a:t>168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+260%</a:t>
                      </a:r>
                      <a:r>
                        <a:rPr lang="en-US" sz="4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(High Resonance)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3912"/>
                  </a:ext>
                </a:extLst>
              </a:tr>
              <a:tr h="187401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 Followers</a:t>
                      </a:r>
                      <a:endParaRPr lang="en-US" sz="4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4000">
                          <a:solidFill>
                            <a:srgbClr val="1F1F1F"/>
                          </a:solidFill>
                          <a:effectLst/>
                          <a:latin typeface="Poppins Bold" panose="00000800000000000000" charset="0"/>
                        </a:rPr>
                        <a:t>69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4000" dirty="0">
                          <a:solidFill>
                            <a:srgbClr val="1F1F1F"/>
                          </a:solidFill>
                          <a:effectLst/>
                          <a:latin typeface="Poppins Bold" panose="00000800000000000000" charset="0"/>
                        </a:rPr>
                        <a:t>49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+331%</a:t>
                      </a:r>
                      <a:r>
                        <a:rPr lang="en-US" sz="4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(Rapid Acquisition)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90775"/>
                  </a:ext>
                </a:extLst>
              </a:tr>
              <a:tr h="172413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Engagement Rate</a:t>
                      </a:r>
                      <a:endParaRPr lang="en-US" sz="4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4000">
                          <a:solidFill>
                            <a:srgbClr val="1F1F1F"/>
                          </a:solidFill>
                          <a:effectLst/>
                          <a:latin typeface="Poppins Bold" panose="00000800000000000000" charset="0"/>
                        </a:rPr>
                        <a:t>10.3%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4000" b="1" dirty="0">
                          <a:solidFill>
                            <a:srgbClr val="1F1F1F"/>
                          </a:solidFill>
                          <a:effectLst/>
                          <a:latin typeface="Poppins Bold" panose="00000800000000000000" charset="0"/>
                        </a:rPr>
                        <a:t>12.7%</a:t>
                      </a:r>
                      <a:endParaRPr lang="ar-EG" sz="4000" dirty="0">
                        <a:solidFill>
                          <a:srgbClr val="1F1F1F"/>
                        </a:solidFill>
                        <a:effectLst/>
                        <a:latin typeface="Poppins Bold" panose="00000800000000000000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4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Industry Leading</a:t>
                      </a:r>
                      <a:endParaRPr lang="en-US" sz="4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22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410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7C0D32-B146-780B-B38B-412229EDF7F1}"/>
              </a:ext>
            </a:extLst>
          </p:cNvPr>
          <p:cNvSpPr txBox="1"/>
          <p:nvPr/>
        </p:nvSpPr>
        <p:spPr>
          <a:xfrm>
            <a:off x="457200" y="1409700"/>
            <a:ext cx="16840200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5400" b="1" u="sng" dirty="0"/>
              <a:t>Key Strategic Insights</a:t>
            </a:r>
          </a:p>
          <a:p>
            <a:pPr algn="ctr">
              <a:buNone/>
            </a:pPr>
            <a:endParaRPr lang="en-US" sz="5400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chemeClr val="bg1"/>
                </a:solidFill>
              </a:rPr>
              <a:t>Growth Velocity:</a:t>
            </a:r>
          </a:p>
          <a:p>
            <a:r>
              <a:rPr lang="en-US" sz="3600" dirty="0"/>
              <a:t> Your views increased by </a:t>
            </a:r>
            <a:r>
              <a:rPr lang="en-US" sz="3600" b="1" dirty="0"/>
              <a:t>20x</a:t>
            </a:r>
            <a:r>
              <a:rPr lang="en-US" sz="3600" dirty="0"/>
              <a:t> in one week. This is a clear indicator that the Facebook algorithm is now actively recommending OctuScale content to new audiences beyond    your current followers.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chemeClr val="bg1"/>
                </a:solidFill>
              </a:rPr>
              <a:t>Content Hero:</a:t>
            </a:r>
            <a:r>
              <a:rPr lang="en-US" sz="3600" u="sng" dirty="0">
                <a:solidFill>
                  <a:schemeClr val="bg1"/>
                </a:solidFill>
              </a:rPr>
              <a:t> </a:t>
            </a:r>
          </a:p>
          <a:p>
            <a:r>
              <a:rPr lang="en-US" sz="3600" dirty="0"/>
              <a:t>The post regarding "Job Application Struggles" remains the primary driver of success, reaching </a:t>
            </a:r>
            <a:r>
              <a:rPr lang="en-US" sz="3600" b="1" dirty="0"/>
              <a:t>406 views</a:t>
            </a:r>
            <a:r>
              <a:rPr lang="en-US" sz="3600" dirty="0"/>
              <a:t>. This confirms that </a:t>
            </a:r>
            <a:r>
              <a:rPr lang="en-US" sz="3600" b="1" dirty="0"/>
              <a:t>"Problem-Solution"</a:t>
            </a:r>
            <a:r>
              <a:rPr lang="en-US" sz="3600" dirty="0"/>
              <a:t> content is your most effective marketing pillar.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chemeClr val="bg1"/>
                </a:solidFill>
              </a:rPr>
              <a:t>Conversion Efficiency:</a:t>
            </a:r>
          </a:p>
          <a:p>
            <a:r>
              <a:rPr lang="en-US" sz="3600" dirty="0"/>
              <a:t> 71% of your total monthly follower growth happened in the last 7 days. This means the audience being reached right now is highly targeted and has a high intent to follow the brand.</a:t>
            </a:r>
          </a:p>
        </p:txBody>
      </p:sp>
    </p:spTree>
    <p:extLst>
      <p:ext uri="{BB962C8B-B14F-4D97-AF65-F5344CB8AC3E}">
        <p14:creationId xmlns:p14="http://schemas.microsoft.com/office/powerpoint/2010/main" val="101348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A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105" y="493044"/>
            <a:ext cx="15698391" cy="111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1"/>
              </a:lnSpc>
              <a:spcBef>
                <a:spcPct val="0"/>
              </a:spcBef>
            </a:pPr>
            <a:r>
              <a:rPr lang="en-US" sz="4301" b="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Data Analysis and Performance Measurement (Analytics)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780504"/>
            <a:ext cx="17445789" cy="2788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1"/>
              </a:lnSpc>
              <a:spcBef>
                <a:spcPct val="0"/>
              </a:spcBef>
            </a:pPr>
            <a:r>
              <a:rPr lang="en-US" sz="4901" b="1" u="sng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A. Performance Analysis Tools</a:t>
            </a:r>
          </a:p>
          <a:p>
            <a:pPr algn="ctr">
              <a:lnSpc>
                <a:spcPts val="4901"/>
              </a:lnSpc>
              <a:spcBef>
                <a:spcPct val="0"/>
              </a:spcBef>
            </a:pPr>
            <a:endParaRPr lang="en-US" sz="490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01"/>
              </a:lnSpc>
              <a:spcBef>
                <a:spcPct val="0"/>
              </a:spcBef>
            </a:pPr>
            <a:r>
              <a:rPr lang="en-US" sz="3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Facebook/Meta Insights: Used to track the organic viral spike (+885% views) and identify the specific content format (Reels/Educational) that caused the surge.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7768" y="4599996"/>
            <a:ext cx="17766377" cy="553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1"/>
              </a:lnSpc>
              <a:spcBef>
                <a:spcPct val="0"/>
              </a:spcBef>
            </a:pPr>
            <a:r>
              <a:rPr lang="en-US" sz="4901" b="1" u="sng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B. Key Performance Indicators (KPIs)</a:t>
            </a:r>
          </a:p>
          <a:p>
            <a:pPr algn="ctr">
              <a:lnSpc>
                <a:spcPts val="4901"/>
              </a:lnSpc>
              <a:spcBef>
                <a:spcPct val="0"/>
              </a:spcBef>
            </a:pPr>
            <a:endParaRPr lang="en-US" sz="4901" b="1" u="sng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901"/>
              </a:lnSpc>
              <a:spcBef>
                <a:spcPct val="0"/>
              </a:spcBef>
            </a:pPr>
            <a:r>
              <a:rPr lang="en-US" sz="49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r>
              <a:rPr lang="en-US" sz="490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Website</a:t>
            </a:r>
            <a:r>
              <a:rPr lang="en-US" sz="49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90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Visits</a:t>
            </a:r>
            <a:r>
              <a:rPr lang="en-US" sz="49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(Traffic)</a:t>
            </a:r>
          </a:p>
          <a:p>
            <a:pPr marL="571500" indent="-571500" algn="l">
              <a:lnSpc>
                <a:spcPts val="4901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Monthly Views: 2,619 (Up by 394%)</a:t>
            </a:r>
          </a:p>
          <a:p>
            <a:pPr algn="l">
              <a:lnSpc>
                <a:spcPts val="4901"/>
              </a:lnSpc>
              <a:spcBef>
                <a:spcPct val="0"/>
              </a:spcBef>
            </a:pPr>
            <a:r>
              <a:rPr lang="en-US" sz="490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Target:</a:t>
            </a:r>
            <a:r>
              <a:rPr lang="en-US" sz="4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owners interested in scaling</a:t>
            </a:r>
          </a:p>
          <a:p>
            <a:pPr algn="l">
              <a:lnSpc>
                <a:spcPts val="4901"/>
              </a:lnSpc>
              <a:spcBef>
                <a:spcPct val="0"/>
              </a:spcBef>
            </a:pPr>
            <a:endParaRPr lang="en-US" sz="49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901"/>
              </a:lnSpc>
              <a:spcBef>
                <a:spcPct val="0"/>
              </a:spcBef>
            </a:pPr>
            <a:r>
              <a:rPr lang="en-US" sz="49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r>
              <a:rPr lang="en-US" sz="490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Conversion</a:t>
            </a:r>
            <a:r>
              <a:rPr lang="en-US" sz="490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90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Rate</a:t>
            </a:r>
          </a:p>
          <a:p>
            <a:pPr algn="l">
              <a:lnSpc>
                <a:spcPts val="4901"/>
              </a:lnSpc>
              <a:spcBef>
                <a:spcPct val="0"/>
              </a:spcBef>
            </a:pPr>
            <a:r>
              <a:rPr lang="en-US" sz="49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Increased to 2.6% (69 new followers from 2,619 views).</a:t>
            </a:r>
          </a:p>
          <a:p>
            <a:pPr algn="l">
              <a:lnSpc>
                <a:spcPts val="3401"/>
              </a:lnSpc>
              <a:spcBef>
                <a:spcPct val="0"/>
              </a:spcBef>
            </a:pPr>
            <a:endParaRPr lang="en-US" sz="49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A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0947" y="57150"/>
            <a:ext cx="18288000" cy="108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ts val="5948"/>
              </a:lnSpc>
              <a:buFont typeface="Wingdings" panose="05000000000000000000" pitchFamily="2" charset="2"/>
              <a:buChar char="ü"/>
            </a:pPr>
            <a:r>
              <a:rPr lang="en-US" sz="5400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Growth Velocity</a:t>
            </a:r>
            <a:r>
              <a:rPr lang="en-US" sz="5400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l">
              <a:lnSpc>
                <a:spcPts val="3848"/>
              </a:lnSpc>
            </a:pPr>
            <a:r>
              <a:rPr lang="en-US" sz="38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Notably, 71% of your total monthly growth (49 out of 69 followers)     happened in the last 7 days, showing a rapid acceleration in brand trust.</a:t>
            </a:r>
          </a:p>
          <a:p>
            <a:pPr algn="l">
              <a:lnSpc>
                <a:spcPts val="3848"/>
              </a:lnSpc>
            </a:pPr>
            <a:r>
              <a:rPr lang="en-US" sz="38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5978"/>
              </a:lnSpc>
              <a:spcBef>
                <a:spcPct val="0"/>
              </a:spcBef>
            </a:pPr>
            <a:r>
              <a:rPr lang="en-US" sz="5400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3.Engagement</a:t>
            </a:r>
          </a:p>
          <a:p>
            <a:pPr algn="l">
              <a:lnSpc>
                <a:spcPts val="5066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Interactions: 270 (Up by 260%)</a:t>
            </a:r>
          </a:p>
          <a:p>
            <a:pPr algn="ctr">
              <a:lnSpc>
                <a:spcPts val="5978"/>
              </a:lnSpc>
              <a:spcBef>
                <a:spcPct val="0"/>
              </a:spcBef>
            </a:pPr>
            <a:endParaRPr lang="en-US" sz="4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978"/>
              </a:lnSpc>
              <a:spcBef>
                <a:spcPct val="0"/>
              </a:spcBef>
            </a:pPr>
            <a:r>
              <a:rPr lang="en-US" sz="54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en-US" sz="5400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.Return on Investment (ROI)</a:t>
            </a:r>
          </a:p>
          <a:p>
            <a:pPr marL="685800" indent="-685800" algn="l">
              <a:lnSpc>
                <a:spcPts val="5978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267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Organic ROI</a:t>
            </a:r>
            <a:r>
              <a:rPr lang="en-US" sz="4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Exceptional. High-scale brand awareness and audience acquisition were achieved with $0.00 ad spend, maximizing the value of content production.</a:t>
            </a:r>
          </a:p>
          <a:p>
            <a:pPr algn="ctr">
              <a:lnSpc>
                <a:spcPts val="4267"/>
              </a:lnSpc>
              <a:spcBef>
                <a:spcPct val="0"/>
              </a:spcBef>
            </a:pPr>
            <a:r>
              <a:rPr lang="en-US" sz="4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71500" indent="-571500" algn="ctr">
              <a:lnSpc>
                <a:spcPts val="5167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Metric</a:t>
            </a:r>
            <a:r>
              <a:rPr lang="en-US" sz="5167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paid campaigns, we would measure the cost per "Discovery Call" booked versus the lifetime value of a new business client.</a:t>
            </a:r>
          </a:p>
          <a:p>
            <a:pPr algn="ctr">
              <a:lnSpc>
                <a:spcPts val="5978"/>
              </a:lnSpc>
              <a:spcBef>
                <a:spcPct val="0"/>
              </a:spcBef>
            </a:pPr>
            <a:endParaRPr lang="en-US" sz="51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2686DB-0EC8-57B1-F9FE-2729466AA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553115"/>
              </p:ext>
            </p:extLst>
          </p:nvPr>
        </p:nvGraphicFramePr>
        <p:xfrm>
          <a:off x="533400" y="286885"/>
          <a:ext cx="16802099" cy="9713230"/>
        </p:xfrm>
        <a:graphic>
          <a:graphicData uri="http://schemas.openxmlformats.org/drawingml/2006/table">
            <a:tbl>
              <a:tblPr/>
              <a:tblGrid>
                <a:gridCol w="3428231">
                  <a:extLst>
                    <a:ext uri="{9D8B030D-6E8A-4147-A177-3AD203B41FA5}">
                      <a16:colId xmlns:a16="http://schemas.microsoft.com/office/drawing/2014/main" val="1413081760"/>
                    </a:ext>
                  </a:extLst>
                </a:gridCol>
                <a:gridCol w="3428231">
                  <a:extLst>
                    <a:ext uri="{9D8B030D-6E8A-4147-A177-3AD203B41FA5}">
                      <a16:colId xmlns:a16="http://schemas.microsoft.com/office/drawing/2014/main" val="459301235"/>
                    </a:ext>
                  </a:extLst>
                </a:gridCol>
                <a:gridCol w="3428231">
                  <a:extLst>
                    <a:ext uri="{9D8B030D-6E8A-4147-A177-3AD203B41FA5}">
                      <a16:colId xmlns:a16="http://schemas.microsoft.com/office/drawing/2014/main" val="2115539839"/>
                    </a:ext>
                  </a:extLst>
                </a:gridCol>
                <a:gridCol w="3428231">
                  <a:extLst>
                    <a:ext uri="{9D8B030D-6E8A-4147-A177-3AD203B41FA5}">
                      <a16:colId xmlns:a16="http://schemas.microsoft.com/office/drawing/2014/main" val="3005600833"/>
                    </a:ext>
                  </a:extLst>
                </a:gridCol>
                <a:gridCol w="3089175">
                  <a:extLst>
                    <a:ext uri="{9D8B030D-6E8A-4147-A177-3AD203B41FA5}">
                      <a16:colId xmlns:a16="http://schemas.microsoft.com/office/drawing/2014/main" val="2588604755"/>
                    </a:ext>
                  </a:extLst>
                </a:gridCol>
              </a:tblGrid>
              <a:tr h="136316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Performance Indicator (KPI)</a:t>
                      </a:r>
                      <a:endParaRPr lang="en-US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Previous Data (April 23)</a:t>
                      </a:r>
                      <a:endParaRPr lang="en-US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Current Data (April 27)</a:t>
                      </a:r>
                      <a:endParaRPr lang="en-US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% Change (Growth)</a:t>
                      </a:r>
                      <a:endParaRPr lang="en-US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Strategic Status</a:t>
                      </a:r>
                      <a:endParaRPr lang="en-US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60887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126407"/>
                  </a:ext>
                </a:extLst>
              </a:tr>
              <a:tr h="95336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Monthly Views (28D)</a:t>
                      </a:r>
                      <a:endParaRPr lang="en-US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1,475</a:t>
                      </a: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2,619</a:t>
                      </a:r>
                      <a:endParaRPr lang="ar-EG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+77.5%</a:t>
                      </a:r>
                      <a:endParaRPr lang="ar-EG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Exponential Scaling</a:t>
                      </a:r>
                    </a:p>
                  </a:txBody>
                  <a:tcPr marL="60887" marR="60887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7729"/>
                  </a:ext>
                </a:extLst>
              </a:tr>
              <a:tr h="125979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Engagement (28D)</a:t>
                      </a:r>
                      <a:endParaRPr lang="en-US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201</a:t>
                      </a: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270</a:t>
                      </a:r>
                      <a:endParaRPr lang="ar-EG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+34.3%</a:t>
                      </a:r>
                      <a:endParaRPr lang="ar-EG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Rising Authority</a:t>
                      </a:r>
                    </a:p>
                  </a:txBody>
                  <a:tcPr marL="60887" marR="60887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6913"/>
                  </a:ext>
                </a:extLst>
              </a:tr>
              <a:tr h="95336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 New Followers</a:t>
                      </a:r>
                      <a:endParaRPr lang="en-US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</a:t>
                      </a: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69</a:t>
                      </a:r>
                      <a:endParaRPr lang="ar-EG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+137.9%</a:t>
                      </a:r>
                      <a:endParaRPr lang="ar-EG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Trust Acquisition</a:t>
                      </a:r>
                    </a:p>
                  </a:txBody>
                  <a:tcPr marL="60887" marR="60887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650348"/>
                  </a:ext>
                </a:extLst>
              </a:tr>
              <a:tr h="95336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Weekly Views (7D Spike)</a:t>
                      </a:r>
                      <a:endParaRPr lang="en-US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778</a:t>
                      </a: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1,906</a:t>
                      </a:r>
                      <a:endParaRPr lang="ar-EG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+145%</a:t>
                      </a:r>
                      <a:endParaRPr lang="ar-EG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Viral Momentum</a:t>
                      </a:r>
                    </a:p>
                  </a:txBody>
                  <a:tcPr marL="60887" marR="60887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17212"/>
                  </a:ext>
                </a:extLst>
              </a:tr>
              <a:tr h="125979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Weekly Engagement (7D)</a:t>
                      </a:r>
                      <a:endParaRPr lang="en-US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99</a:t>
                      </a: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168</a:t>
                      </a:r>
                      <a:endParaRPr lang="ar-EG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+69.7%</a:t>
                      </a:r>
                      <a:endParaRPr lang="ar-EG" sz="3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Active Resonance</a:t>
                      </a:r>
                    </a:p>
                  </a:txBody>
                  <a:tcPr marL="60887" marR="60887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537274"/>
                  </a:ext>
                </a:extLst>
              </a:tr>
              <a:tr h="95336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Weekly New Followers (7D)</a:t>
                      </a:r>
                      <a:endParaRPr lang="en-US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49</a:t>
                      </a:r>
                      <a:endParaRPr lang="ar-EG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ar-EG" sz="3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+444%</a:t>
                      </a:r>
                      <a:endParaRPr lang="ar-EG" sz="3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7" marR="76109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Follower Surge</a:t>
                      </a:r>
                    </a:p>
                  </a:txBody>
                  <a:tcPr marL="60887" marR="60887" marT="101479" marB="101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711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887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A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1184" y="443414"/>
            <a:ext cx="17332453" cy="922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1"/>
              </a:lnSpc>
              <a:spcBef>
                <a:spcPct val="0"/>
              </a:spcBef>
            </a:pPr>
            <a:r>
              <a:rPr lang="en-US" sz="5901" u="sng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C. Campaign Effectiveness Evaluation</a:t>
            </a:r>
          </a:p>
          <a:p>
            <a:pPr algn="ctr">
              <a:lnSpc>
                <a:spcPts val="5901"/>
              </a:lnSpc>
              <a:spcBef>
                <a:spcPct val="0"/>
              </a:spcBef>
            </a:pPr>
            <a:endParaRPr lang="en-US" sz="59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71500" indent="-571500" algn="l">
              <a:lnSpc>
                <a:spcPts val="5001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400" b="1" u="sng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 Goal</a:t>
            </a:r>
            <a:r>
              <a:rPr lang="en-US" sz="44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44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0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 brand awareness and authority in the business scaling niche.</a:t>
            </a:r>
          </a:p>
          <a:p>
            <a:pPr algn="l">
              <a:lnSpc>
                <a:spcPts val="5001"/>
              </a:lnSpc>
              <a:spcBef>
                <a:spcPct val="0"/>
              </a:spcBef>
            </a:pPr>
            <a:endParaRPr lang="en-US" sz="500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71500" indent="-571500" algn="l">
              <a:lnSpc>
                <a:spcPts val="5001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400" b="1" u="sng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</a:t>
            </a:r>
            <a:r>
              <a:rPr lang="en-US" sz="5001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50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campaign is currently in a "Viral State." Moving from 1.4k views to 2.6k views in such a short window confirms that your content strategy has successfully identified a market "pain point.</a:t>
            </a:r>
            <a:r>
              <a:rPr lang="en-US" sz="500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"</a:t>
            </a:r>
          </a:p>
          <a:p>
            <a:pPr algn="l">
              <a:lnSpc>
                <a:spcPts val="5001"/>
              </a:lnSpc>
              <a:spcBef>
                <a:spcPct val="0"/>
              </a:spcBef>
            </a:pPr>
            <a:endParaRPr lang="en-US" sz="500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71500" indent="-571500" algn="l">
              <a:lnSpc>
                <a:spcPts val="5001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400" b="1" u="sng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Verdict:</a:t>
            </a:r>
            <a:r>
              <a:rPr lang="en-US" sz="44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00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strategy of using "Pain Point" marketing (addressing specific struggles) is proven effective. The next phase should focus on converting this massive awareness into direct sales leads.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976</Words>
  <Application>Microsoft Office PowerPoint</Application>
  <PresentationFormat>Custom</PresentationFormat>
  <Paragraphs>143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Poppins</vt:lpstr>
      <vt:lpstr>Wingdings</vt:lpstr>
      <vt:lpstr>Google Sans Text</vt:lpstr>
      <vt:lpstr>Calibri</vt:lpstr>
      <vt:lpstr>Arial</vt:lpstr>
      <vt:lpstr>League Spartan</vt:lpstr>
      <vt:lpstr>Poppins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</dc:title>
  <cp:lastModifiedBy>lailaibrahim30@hotmail.com</cp:lastModifiedBy>
  <cp:revision>5</cp:revision>
  <dcterms:created xsi:type="dcterms:W3CDTF">2006-08-16T00:00:00Z</dcterms:created>
  <dcterms:modified xsi:type="dcterms:W3CDTF">2026-04-27T18:32:39Z</dcterms:modified>
  <dc:identifier>DAHHq8SQ0PU</dc:identifier>
</cp:coreProperties>
</file>